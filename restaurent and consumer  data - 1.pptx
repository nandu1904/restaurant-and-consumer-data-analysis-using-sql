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2" r:id="rId6"/>
    <p:sldId id="264" r:id="rId7"/>
    <p:sldId id="270" r:id="rId8"/>
    <p:sldId id="265" r:id="rId9"/>
    <p:sldId id="266" r:id="rId10"/>
    <p:sldId id="269" r:id="rId11"/>
    <p:sldId id="267" r:id="rId12"/>
  </p:sldIdLst>
  <p:sldSz cx="12192000" cy="6858000"/>
  <p:notesSz cx="6858000" cy="9144000"/>
  <p:embeddedFontLst>
    <p:embeddedFont>
      <p:font typeface="Libre Baskerville" panose="02000000000000000000" pitchFamily="2" charset="0"/>
      <p:regular r:id="rId14"/>
      <p:bold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DD777-EEFE-4192-8427-5CE1B00AF639}" v="4" dt="2026-09-09T04:30:39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 Nandini" userId="d60dc05dafff43c8" providerId="LiveId" clId="{807642AC-87DA-4646-847A-FC1BC9119F74}"/>
    <pc:docChg chg="undo custSel modSld">
      <pc:chgData name="L Nandini" userId="d60dc05dafff43c8" providerId="LiveId" clId="{807642AC-87DA-4646-847A-FC1BC9119F74}" dt="2026-09-09T04:44:40.572" v="213" actId="14100"/>
      <pc:docMkLst>
        <pc:docMk/>
      </pc:docMkLst>
      <pc:sldChg chg="modSp mod">
        <pc:chgData name="L Nandini" userId="d60dc05dafff43c8" providerId="LiveId" clId="{807642AC-87DA-4646-847A-FC1BC9119F74}" dt="2026-09-09T04:33:20.082" v="178" actId="6549"/>
        <pc:sldMkLst>
          <pc:docMk/>
          <pc:sldMk cId="0" sldId="258"/>
        </pc:sldMkLst>
        <pc:spChg chg="mod">
          <ac:chgData name="L Nandini" userId="d60dc05dafff43c8" providerId="LiveId" clId="{807642AC-87DA-4646-847A-FC1BC9119F74}" dt="2026-09-09T04:33:20.082" v="178" actId="6549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 mod">
        <pc:chgData name="L Nandini" userId="d60dc05dafff43c8" providerId="LiveId" clId="{807642AC-87DA-4646-847A-FC1BC9119F74}" dt="2026-09-09T04:31:42.676" v="163" actId="20577"/>
        <pc:sldMkLst>
          <pc:docMk/>
          <pc:sldMk cId="1565072964" sldId="265"/>
        </pc:sldMkLst>
        <pc:spChg chg="add del mod">
          <ac:chgData name="L Nandini" userId="d60dc05dafff43c8" providerId="LiveId" clId="{807642AC-87DA-4646-847A-FC1BC9119F74}" dt="2026-09-09T04:29:47.747" v="92"/>
          <ac:spMkLst>
            <pc:docMk/>
            <pc:sldMk cId="1565072964" sldId="265"/>
            <ac:spMk id="5" creationId="{43264C51-EEDF-2952-E946-82953538AA71}"/>
          </ac:spMkLst>
        </pc:spChg>
        <pc:spChg chg="add del mod">
          <ac:chgData name="L Nandini" userId="d60dc05dafff43c8" providerId="LiveId" clId="{807642AC-87DA-4646-847A-FC1BC9119F74}" dt="2026-09-09T04:30:13.391" v="98"/>
          <ac:spMkLst>
            <pc:docMk/>
            <pc:sldMk cId="1565072964" sldId="265"/>
            <ac:spMk id="7" creationId="{5E268165-BAB8-EB4A-CFB0-2A0C38666138}"/>
          </ac:spMkLst>
        </pc:spChg>
        <pc:spChg chg="add mod">
          <ac:chgData name="L Nandini" userId="d60dc05dafff43c8" providerId="LiveId" clId="{807642AC-87DA-4646-847A-FC1BC9119F74}" dt="2026-09-09T04:31:42.676" v="163" actId="20577"/>
          <ac:spMkLst>
            <pc:docMk/>
            <pc:sldMk cId="1565072964" sldId="265"/>
            <ac:spMk id="8" creationId="{85A53795-E296-FC7D-3F71-4B92B926CEF0}"/>
          </ac:spMkLst>
        </pc:spChg>
      </pc:sldChg>
      <pc:sldChg chg="addSp delSp modSp mod">
        <pc:chgData name="L Nandini" userId="d60dc05dafff43c8" providerId="LiveId" clId="{807642AC-87DA-4646-847A-FC1BC9119F74}" dt="2026-09-09T04:44:40.572" v="213" actId="14100"/>
        <pc:sldMkLst>
          <pc:docMk/>
          <pc:sldMk cId="1379701443" sldId="266"/>
        </pc:sldMkLst>
        <pc:picChg chg="del">
          <ac:chgData name="L Nandini" userId="d60dc05dafff43c8" providerId="LiveId" clId="{807642AC-87DA-4646-847A-FC1BC9119F74}" dt="2026-09-09T04:39:12.010" v="179" actId="478"/>
          <ac:picMkLst>
            <pc:docMk/>
            <pc:sldMk cId="1379701443" sldId="266"/>
            <ac:picMk id="6" creationId="{180286C4-1220-85FE-D279-57168990ABB7}"/>
          </ac:picMkLst>
        </pc:picChg>
        <pc:picChg chg="add mod">
          <ac:chgData name="L Nandini" userId="d60dc05dafff43c8" providerId="LiveId" clId="{807642AC-87DA-4646-847A-FC1BC9119F74}" dt="2026-09-09T04:43:16.081" v="203" actId="14100"/>
          <ac:picMkLst>
            <pc:docMk/>
            <pc:sldMk cId="1379701443" sldId="266"/>
            <ac:picMk id="7" creationId="{15EAF234-5A55-8F4E-A538-B60087368B65}"/>
          </ac:picMkLst>
        </pc:picChg>
        <pc:picChg chg="del">
          <ac:chgData name="L Nandini" userId="d60dc05dafff43c8" providerId="LiveId" clId="{807642AC-87DA-4646-847A-FC1BC9119F74}" dt="2026-09-09T04:42:40.971" v="195" actId="478"/>
          <ac:picMkLst>
            <pc:docMk/>
            <pc:sldMk cId="1379701443" sldId="266"/>
            <ac:picMk id="9" creationId="{C59BA618-4339-AED9-B955-6E09CB7D75B5}"/>
          </ac:picMkLst>
        </pc:picChg>
        <pc:picChg chg="add mod">
          <ac:chgData name="L Nandini" userId="d60dc05dafff43c8" providerId="LiveId" clId="{807642AC-87DA-4646-847A-FC1BC9119F74}" dt="2026-09-09T04:44:40.572" v="213" actId="14100"/>
          <ac:picMkLst>
            <pc:docMk/>
            <pc:sldMk cId="1379701443" sldId="266"/>
            <ac:picMk id="10" creationId="{B6C38904-B995-01F5-DDB5-200E93C844D2}"/>
          </ac:picMkLst>
        </pc:picChg>
        <pc:picChg chg="add mod">
          <ac:chgData name="L Nandini" userId="d60dc05dafff43c8" providerId="LiveId" clId="{807642AC-87DA-4646-847A-FC1BC9119F74}" dt="2026-09-09T04:44:04.308" v="207" actId="1076"/>
          <ac:picMkLst>
            <pc:docMk/>
            <pc:sldMk cId="1379701443" sldId="266"/>
            <ac:picMk id="12" creationId="{9DE1471D-3F1A-F01D-2B0C-F248812124F2}"/>
          </ac:picMkLst>
        </pc:picChg>
        <pc:picChg chg="del">
          <ac:chgData name="L Nandini" userId="d60dc05dafff43c8" providerId="LiveId" clId="{807642AC-87DA-4646-847A-FC1BC9119F74}" dt="2026-09-09T04:40:49.180" v="188" actId="478"/>
          <ac:picMkLst>
            <pc:docMk/>
            <pc:sldMk cId="1379701443" sldId="266"/>
            <ac:picMk id="14" creationId="{D284E13D-09CE-2E99-F8CB-73F84EB536BA}"/>
          </ac:picMkLst>
        </pc:picChg>
        <pc:picChg chg="add mod">
          <ac:chgData name="L Nandini" userId="d60dc05dafff43c8" providerId="LiveId" clId="{807642AC-87DA-4646-847A-FC1BC9119F74}" dt="2026-09-09T04:44:30.869" v="212" actId="1076"/>
          <ac:picMkLst>
            <pc:docMk/>
            <pc:sldMk cId="1379701443" sldId="266"/>
            <ac:picMk id="15" creationId="{7C9592B6-DCE7-967B-26DC-BE33A74BD746}"/>
          </ac:picMkLst>
        </pc:picChg>
        <pc:picChg chg="del">
          <ac:chgData name="L Nandini" userId="d60dc05dafff43c8" providerId="LiveId" clId="{807642AC-87DA-4646-847A-FC1BC9119F74}" dt="2026-09-09T04:40:50.993" v="189" actId="478"/>
          <ac:picMkLst>
            <pc:docMk/>
            <pc:sldMk cId="1379701443" sldId="266"/>
            <ac:picMk id="16" creationId="{DD1C7EEF-0D5A-D500-DA8B-9A214F14F5C7}"/>
          </ac:picMkLst>
        </pc:picChg>
        <pc:picChg chg="del">
          <ac:chgData name="L Nandini" userId="d60dc05dafff43c8" providerId="LiveId" clId="{807642AC-87DA-4646-847A-FC1BC9119F74}" dt="2026-09-09T04:43:21.096" v="204" actId="478"/>
          <ac:picMkLst>
            <pc:docMk/>
            <pc:sldMk cId="1379701443" sldId="266"/>
            <ac:picMk id="18" creationId="{D884F3DE-326B-92AB-DEF3-F47EE9CB72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8197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5943"/>
            <a:ext cx="12190815" cy="618213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51563" y="3537705"/>
            <a:ext cx="724618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400" b="1" dirty="0">
                <a:solidFill>
                  <a:srgbClr val="7030A0"/>
                </a:solidFill>
              </a:rPr>
              <a:t>Restaurant and Consumer Database Analysis  using SQL</a:t>
            </a:r>
            <a:endParaRPr sz="2400" b="1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9FB78-9CA0-06D5-4E83-C779B374E598}"/>
              </a:ext>
            </a:extLst>
          </p:cNvPr>
          <p:cNvSpPr txBox="1"/>
          <p:nvPr/>
        </p:nvSpPr>
        <p:spPr>
          <a:xfrm>
            <a:off x="7921483" y="5090734"/>
            <a:ext cx="3081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+mj-lt"/>
                <a:cs typeface="Times New Roman" panose="02020603050405020304" pitchFamily="18" charset="0"/>
              </a:rPr>
              <a:t>L. NANDINI</a:t>
            </a:r>
          </a:p>
          <a:p>
            <a:pPr algn="ctr"/>
            <a:r>
              <a:rPr lang="en-US" sz="1600" b="1" dirty="0">
                <a:latin typeface="+mj-lt"/>
                <a:cs typeface="Times New Roman" panose="02020603050405020304" pitchFamily="18" charset="0"/>
              </a:rPr>
              <a:t>R. SINDHU</a:t>
            </a:r>
            <a:r>
              <a:rPr lang="en-IN" sz="1600" b="1" dirty="0">
                <a:latin typeface="+mj-lt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6AA45-4F9A-C8C2-3BE5-EA6553751569}"/>
              </a:ext>
            </a:extLst>
          </p:cNvPr>
          <p:cNvSpPr txBox="1"/>
          <p:nvPr/>
        </p:nvSpPr>
        <p:spPr>
          <a:xfrm>
            <a:off x="8587406" y="4752180"/>
            <a:ext cx="1749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Presented By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17731" y="134381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&amp; Analysis 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85725" indent="0">
              <a:buNone/>
            </a:pPr>
            <a:endParaRPr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84D2-916F-8236-1546-833E8A5E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D63B0-39A5-0C72-4F37-97569E70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542" y="15208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Database Management System is a MySQL-based relational database designed to store, manage, and analyse information about consumers, restaurants, cuisines, preferences, and ratings.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connects consumers with their preferred cuisines and restaurant ratings while maintaining relationships between restaurants and the cuisines they offer.</a:t>
            </a:r>
          </a:p>
          <a:p>
            <a:pPr marL="11430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consumer and restaurant data efficiently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relationships between different database tables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 using Primary Keys and Foreign Keys </a:t>
            </a: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consumer preferences and restaurant ratings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 insights using SQL queries </a:t>
            </a:r>
          </a:p>
          <a:p>
            <a:pPr marL="114300" lvl="0" indent="0">
              <a:buNone/>
            </a:pPr>
            <a:endParaRPr lang="en-IN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11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DCAE-13B4-AA12-D7F4-01607CCA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1825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Database Design(ER Diagram)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5CDB5-287F-5FC1-7D74-778FC3C9A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409" y="1188368"/>
            <a:ext cx="5801385" cy="5208848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restaurant-related datasets containing information about consumers, consumer preferences, restaurants, restaurant cuisines, and ratings. </a:t>
            </a:r>
          </a:p>
          <a:p>
            <a:pPr marL="11430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contains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interconnected tables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- Preferences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- Cuisines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</a:t>
            </a:r>
          </a:p>
          <a:p>
            <a:pPr marL="114300" lvl="0" indent="0">
              <a:buNone/>
            </a:pP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→ 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Consumer_Preferences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→ Ratings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→ 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Restaurant_Cuisines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→ Ratings</a:t>
            </a:r>
          </a:p>
          <a:p>
            <a:pPr marL="114300" indent="0">
              <a:buNone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3E713-2801-647A-02CB-00AC93C7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610" y="1343818"/>
            <a:ext cx="4851025" cy="466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7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5A0F-CE49-4BDB-E75F-285FC492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15598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Database Tables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465A4D-342D-4A87-F79D-86B6C0277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75171"/>
            <a:ext cx="6183086" cy="5284970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Database consists of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relational tables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designed to manage a specific type of information.</a:t>
            </a:r>
          </a:p>
          <a:p>
            <a:pPr marL="114300" indent="0">
              <a:buNone/>
            </a:pP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Consumers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consumer demographic and personal preference-related information </a:t>
            </a: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Consumer_Preferences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cuisines preferred by consumers </a:t>
            </a: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Restaurants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restaurant details and location information </a:t>
            </a: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Restaurant_Cuisines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cuisines offered by each restaurant </a:t>
            </a:r>
          </a:p>
          <a:p>
            <a:pPr marL="11430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Ratings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consumer ratings for restaurants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43430F-ADB2-A088-A272-03E6E009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195" y="2851440"/>
            <a:ext cx="3997234" cy="27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1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DB45-B4AB-5983-C118-0DE39009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Sample Data - 1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90236-5866-33A3-96A3-12B34EF2D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19" y="1239835"/>
            <a:ext cx="5577840" cy="4954658"/>
          </a:xfrm>
        </p:spPr>
        <p:txBody>
          <a:bodyPr>
            <a:normAutofit fontScale="32500" lnSpcReduction="20000"/>
          </a:bodyPr>
          <a:lstStyle/>
          <a:p>
            <a:pPr marL="114300" indent="0">
              <a:buNone/>
            </a:pPr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&amp; Consumer Preferences</a:t>
            </a:r>
          </a:p>
          <a:p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Table</a:t>
            </a:r>
          </a:p>
          <a:p>
            <a:pPr marL="114300" lvl="0" indent="0">
              <a:buNone/>
            </a:pP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Stores consumer information such as: </a:t>
            </a:r>
          </a:p>
          <a:p>
            <a:pPr lvl="1"/>
            <a:r>
              <a:rPr lang="en-IN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and State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Drink Level </a:t>
            </a:r>
          </a:p>
          <a:p>
            <a:pPr lvl="1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Method </a:t>
            </a:r>
          </a:p>
          <a:p>
            <a:pPr marL="114300" indent="0">
              <a:buNone/>
            </a:pPr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Primary Key: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Consumer_Preferences</a:t>
            </a:r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pPr marL="114300" lvl="0" indent="0">
              <a:buNone/>
            </a:pP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Stores the cuisines preferred by each consumer </a:t>
            </a:r>
          </a:p>
          <a:p>
            <a:pPr marL="114300" lvl="0" indent="0">
              <a:buNone/>
            </a:pP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Connected to the Consumers table using </a:t>
            </a:r>
            <a:r>
              <a:rPr lang="en-IN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Key: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E65F1B-B28A-5BB8-4849-08B421AF4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595" y="4049486"/>
            <a:ext cx="3535680" cy="20378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49C58A-1341-F677-5920-885C1DFBF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1666646"/>
            <a:ext cx="6775268" cy="19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9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0D5B-E008-15BE-10C1-B08CA366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D0EF-0316-7A83-1440-37616A64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Sample Data - 2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BE917-8903-B2D1-5441-B2EEDD130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862" y="1054257"/>
            <a:ext cx="4393476" cy="5546840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&amp; Ratings</a:t>
            </a: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Table</a:t>
            </a:r>
          </a:p>
          <a:p>
            <a:pPr marL="114300" lvl="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Stores restaurant information such as: </a:t>
            </a:r>
          </a:p>
          <a:p>
            <a:pPr lvl="1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Table</a:t>
            </a:r>
          </a:p>
          <a:p>
            <a:pPr marL="114300" lvl="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Stores ratings given by consumers  </a:t>
            </a:r>
          </a:p>
          <a:p>
            <a:pPr lvl="1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 </a:t>
            </a:r>
          </a:p>
          <a:p>
            <a:pPr lvl="1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Food_Rating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Service_Rating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0D45BF-DE39-7557-787E-4887DC6F8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669" y="1443146"/>
            <a:ext cx="6923314" cy="1985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EAF016-786C-CD8A-FBDB-ED1B22205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52" y="4236399"/>
            <a:ext cx="5199017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3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53B6-FE97-7C2C-F0CD-CDF0AF2D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82737-4CAF-6BBF-4ED1-EB46ADA03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5" y="1343819"/>
            <a:ext cx="5181600" cy="1325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218D4-C958-47F6-ACB8-1E13EB3C6A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1685" y="1343818"/>
            <a:ext cx="5181600" cy="18239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844E3-ACBD-073D-DF53-155D874C3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86" y="4895280"/>
            <a:ext cx="2544993" cy="1237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020C83-A29B-CE98-74F8-A32587D5E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827" y="4895279"/>
            <a:ext cx="2544993" cy="12378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3B3BBC-FC2C-4A32-47D3-ECB52E723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29" y="536289"/>
            <a:ext cx="5965372" cy="37795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ADCF4A-B60E-D703-BA86-533EB92AC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886" y="536290"/>
            <a:ext cx="4876799" cy="3779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53795-E296-FC7D-3F71-4B92B926CEF0}"/>
              </a:ext>
            </a:extLst>
          </p:cNvPr>
          <p:cNvSpPr txBox="1"/>
          <p:nvPr/>
        </p:nvSpPr>
        <p:spPr>
          <a:xfrm>
            <a:off x="2932611" y="0"/>
            <a:ext cx="6174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          SQL Queries and Analysis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65072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468-4792-47C4-9BB6-52B0AFB2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C8DB-0CFB-B576-FDC1-7DC98F675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743" y="1253331"/>
            <a:ext cx="5181600" cy="158784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682C-FDEB-D9C5-03F4-401DE152A2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07629" y="1253331"/>
            <a:ext cx="5181600" cy="14572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EAF234-5A55-8F4E-A538-B6008736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73" y="300297"/>
            <a:ext cx="5337312" cy="4184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C38904-B995-01F5-DDB5-200E93C84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41" y="297991"/>
            <a:ext cx="6025403" cy="41846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E1471D-3F1A-F01D-2B0C-F24881212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583" y="4685360"/>
            <a:ext cx="2656114" cy="1698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9592B6-DCE7-967B-26DC-BE33A74BD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669" y="4885731"/>
            <a:ext cx="3402875" cy="129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01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3646-65EA-1B81-4339-510CFE61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CONCLUSION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74EAA-8140-C7C2-5B8F-D3320204C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651" y="1825625"/>
            <a:ext cx="10276116" cy="3260181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Restaurant Database Management System demonstrates how SQL can be used to efficiently store, manage, retrieve, and analyse restaurant and consumer data.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me understand relational database design, Primary Keys, Foreign Keys, JOINs, GROUP BY, HAVING, Subqueries, CTEs, Window Functions, Views, and Stored Procedures.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improved my practical SQL skills and gave me a better understanding of how databases can be used to analyse real-world restaurant and consumer data.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91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A3F1-FCA5-EA15-EBA2-5DD072E8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CC7FC-2564-AD29-0A89-B98EBA83521B}"/>
              </a:ext>
            </a:extLst>
          </p:cNvPr>
          <p:cNvSpPr txBox="1"/>
          <p:nvPr/>
        </p:nvSpPr>
        <p:spPr>
          <a:xfrm>
            <a:off x="1611086" y="2188029"/>
            <a:ext cx="75329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  <a:endParaRPr lang="en-IN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16;p5">
            <a:extLst>
              <a:ext uri="{FF2B5EF4-FFF2-40B4-BE49-F238E27FC236}">
                <a16:creationId xmlns:a16="http://schemas.microsoft.com/office/drawing/2014/main" id="{038F816E-9F90-65DF-19BF-7AE594BFB6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1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494</Words>
  <Application>Microsoft Office PowerPoint</Application>
  <PresentationFormat>Widescreen</PresentationFormat>
  <Paragraphs>103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Calibri</vt:lpstr>
      <vt:lpstr>Libre Baskerville</vt:lpstr>
      <vt:lpstr>Office Theme</vt:lpstr>
      <vt:lpstr>PowerPoint Presentation</vt:lpstr>
      <vt:lpstr>Agenda (This should be the PPT flow)  </vt:lpstr>
      <vt:lpstr>Project Overview</vt:lpstr>
      <vt:lpstr>Database Design(ER Diagram)</vt:lpstr>
      <vt:lpstr>Database Tables</vt:lpstr>
      <vt:lpstr>Sample Data - 1</vt:lpstr>
      <vt:lpstr>Sample Data - 2</vt:lpstr>
      <vt:lpstr> </vt:lpstr>
      <vt:lpstr> </vt:lpstr>
      <vt:lpstr>CONCLUSION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L Nandini</cp:lastModifiedBy>
  <cp:revision>8</cp:revision>
  <dcterms:created xsi:type="dcterms:W3CDTF">2021-02-16T05:19:01Z</dcterms:created>
  <dcterms:modified xsi:type="dcterms:W3CDTF">2026-09-09T04:44:49Z</dcterms:modified>
</cp:coreProperties>
</file>